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5EE0C1C-DAB7-47A9-A6EF-75CA562613EF}" type="datetimeFigureOut">
              <a:rPr lang="en-ZA" smtClean="0"/>
              <a:t>2026/02/06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9EA7775-FC84-4653-9153-4307F3A6AD08}" type="slidenum">
              <a:rPr lang="en-ZA" smtClean="0"/>
              <a:t>‹#›</a:t>
            </a:fld>
            <a:endParaRPr lang="en-ZA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0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E0C1C-DAB7-47A9-A6EF-75CA562613EF}" type="datetimeFigureOut">
              <a:rPr lang="en-ZA" smtClean="0"/>
              <a:t>2026/02/06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7775-FC84-4653-9153-4307F3A6AD0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31411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E0C1C-DAB7-47A9-A6EF-75CA562613EF}" type="datetimeFigureOut">
              <a:rPr lang="en-ZA" smtClean="0"/>
              <a:t>2026/02/06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7775-FC84-4653-9153-4307F3A6AD08}" type="slidenum">
              <a:rPr lang="en-ZA" smtClean="0"/>
              <a:t>‹#›</a:t>
            </a:fld>
            <a:endParaRPr lang="en-ZA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1866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E0C1C-DAB7-47A9-A6EF-75CA562613EF}" type="datetimeFigureOut">
              <a:rPr lang="en-ZA" smtClean="0"/>
              <a:t>2026/02/06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7775-FC84-4653-9153-4307F3A6AD0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06561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E0C1C-DAB7-47A9-A6EF-75CA562613EF}" type="datetimeFigureOut">
              <a:rPr lang="en-ZA" smtClean="0"/>
              <a:t>2026/02/06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7775-FC84-4653-9153-4307F3A6AD0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00183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E0C1C-DAB7-47A9-A6EF-75CA562613EF}" type="datetimeFigureOut">
              <a:rPr lang="en-ZA" smtClean="0"/>
              <a:t>2026/02/06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7775-FC84-4653-9153-4307F3A6AD0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8417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E0C1C-DAB7-47A9-A6EF-75CA562613EF}" type="datetimeFigureOut">
              <a:rPr lang="en-ZA" smtClean="0"/>
              <a:t>2026/02/06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7775-FC84-4653-9153-4307F3A6AD0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09127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E0C1C-DAB7-47A9-A6EF-75CA562613EF}" type="datetimeFigureOut">
              <a:rPr lang="en-ZA" smtClean="0"/>
              <a:t>2026/02/06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7775-FC84-4653-9153-4307F3A6AD0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30016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E0C1C-DAB7-47A9-A6EF-75CA562613EF}" type="datetimeFigureOut">
              <a:rPr lang="en-ZA" smtClean="0"/>
              <a:t>2026/02/06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7775-FC84-4653-9153-4307F3A6AD0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81098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E0C1C-DAB7-47A9-A6EF-75CA562613EF}" type="datetimeFigureOut">
              <a:rPr lang="en-ZA" smtClean="0"/>
              <a:t>2026/02/06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7775-FC84-4653-9153-4307F3A6AD0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50981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E0C1C-DAB7-47A9-A6EF-75CA562613EF}" type="datetimeFigureOut">
              <a:rPr lang="en-ZA" smtClean="0"/>
              <a:t>2026/02/06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7775-FC84-4653-9153-4307F3A6AD0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75698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E0C1C-DAB7-47A9-A6EF-75CA562613EF}" type="datetimeFigureOut">
              <a:rPr lang="en-ZA" smtClean="0"/>
              <a:t>2026/02/06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7775-FC84-4653-9153-4307F3A6AD0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32899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5EE0C1C-DAB7-47A9-A6EF-75CA562613EF}" type="datetimeFigureOut">
              <a:rPr lang="en-ZA" smtClean="0"/>
              <a:t>2026/02/06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D9EA7775-FC84-4653-9153-4307F3A6AD0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23035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9CBD3C9-4E66-426D-948E-7CF477810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2EA6A6-CD0C-4CFD-8EC2-AA44F9870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D1005-01D0-7399-18A1-398F50615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200">
                <a:solidFill>
                  <a:schemeClr val="accent1"/>
                </a:solidFill>
              </a:rPr>
              <a:t>🌿 PAVING OPTIONS</a:t>
            </a:r>
          </a:p>
        </p:txBody>
      </p:sp>
      <p:pic>
        <p:nvPicPr>
          <p:cNvPr id="5" name="Picture 4" descr="A logo for a landscape company&#10;&#10;AI-generated content may be incorrect.">
            <a:extLst>
              <a:ext uri="{FF2B5EF4-FFF2-40B4-BE49-F238E27FC236}">
                <a16:creationId xmlns:a16="http://schemas.microsoft.com/office/drawing/2014/main" id="{0982EF17-43C8-4369-79FB-C6460D9FC3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154" y="857675"/>
            <a:ext cx="3431396" cy="514066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39D21E4-8D4B-F9CD-EAC3-5291997F64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pPr indent="-182880" algn="l">
              <a:buFont typeface="Corbel" pitchFamily="34" charset="0"/>
              <a:buChar char="•"/>
            </a:pPr>
            <a:r>
              <a:rPr lang="en-US" sz="1200">
                <a:solidFill>
                  <a:schemeClr val="accent1"/>
                </a:solidFill>
              </a:rPr>
              <a:t>We believe paving is more than just a surface—it’s the foundation of your outdoor space’s character and functionality. Whether you’re designing a welcoming driveway, a stylish patio, or practical garden pathways, the right paving choice transforms your landscape into a seamless blend of beauty and durability.</a:t>
            </a:r>
          </a:p>
          <a:p>
            <a:pPr indent="-182880" algn="l">
              <a:buFont typeface="Corbel" pitchFamily="34" charset="0"/>
              <a:buChar char="•"/>
            </a:pPr>
            <a:r>
              <a:rPr lang="en-US" sz="1200">
                <a:solidFill>
                  <a:schemeClr val="accent1"/>
                </a:solidFill>
              </a:rPr>
              <a:t>We offer a wide range of paving solutions tailored to suit every style and budget: from eco-friendly permeable pavers that support sustainability, to bold modern finishes that make a statement, to timeless natural stone that adds elegance. Our team ensures each option is not only visually striking but also long-lasting and suited to your lifestyle.</a:t>
            </a:r>
          </a:p>
          <a:p>
            <a:pPr indent="-182880" algn="l">
              <a:buFont typeface="Corbel" pitchFamily="34" charset="0"/>
              <a:buChar char="•"/>
            </a:pPr>
            <a:r>
              <a:rPr lang="en-US" sz="1200">
                <a:solidFill>
                  <a:schemeClr val="accent1"/>
                </a:solidFill>
              </a:rPr>
              <a:t>With expert guidance, creative design, and quality materials, we help you choose paving that enhances curb appeal, complements your landscape, and makes every step outside a pleasure.</a:t>
            </a:r>
          </a:p>
          <a:p>
            <a:pPr indent="-182880" algn="l">
              <a:buFont typeface="Corbel" pitchFamily="34" charset="0"/>
              <a:buChar char="•"/>
            </a:pPr>
            <a:endParaRPr lang="en-US" sz="12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857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A7DBAD6-80F9-497B-A278-8816A8E95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8AD113-FF7E-4ECE-A8B0-353FD81B2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C27C0-BBAF-F1F3-7B56-499EB784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HEXAGONAL PAVERS</a:t>
            </a:r>
          </a:p>
        </p:txBody>
      </p:sp>
      <p:pic>
        <p:nvPicPr>
          <p:cNvPr id="9" name="Picture 8" descr="A pink and white hexagon tile&#10;&#10;AI-generated content may be incorrect.">
            <a:extLst>
              <a:ext uri="{FF2B5EF4-FFF2-40B4-BE49-F238E27FC236}">
                <a16:creationId xmlns:a16="http://schemas.microsoft.com/office/drawing/2014/main" id="{EF3BE8D7-0F48-0CCA-5109-71D34F5195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04" r="10443" b="1"/>
          <a:stretch>
            <a:fillRect/>
          </a:stretch>
        </p:blipFill>
        <p:spPr>
          <a:xfrm>
            <a:off x="3044814" y="3249974"/>
            <a:ext cx="4027002" cy="2877940"/>
          </a:xfrm>
          <a:prstGeom prst="rect">
            <a:avLst/>
          </a:prstGeom>
        </p:spPr>
      </p:pic>
      <p:pic>
        <p:nvPicPr>
          <p:cNvPr id="7" name="Picture 6" descr="A grey tile floor with white grout&#10;&#10;AI-generated content may be incorrect.">
            <a:extLst>
              <a:ext uri="{FF2B5EF4-FFF2-40B4-BE49-F238E27FC236}">
                <a16:creationId xmlns:a16="http://schemas.microsoft.com/office/drawing/2014/main" id="{A7B9D881-4159-AD59-36EA-B96318B369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15" r="14172" b="1"/>
          <a:stretch>
            <a:fillRect/>
          </a:stretch>
        </p:blipFill>
        <p:spPr>
          <a:xfrm>
            <a:off x="721369" y="744836"/>
            <a:ext cx="4113439" cy="3161093"/>
          </a:xfrm>
          <a:custGeom>
            <a:avLst/>
            <a:gdLst/>
            <a:ahLst/>
            <a:cxnLst/>
            <a:rect l="l" t="t" r="r" b="b"/>
            <a:pathLst>
              <a:path w="4113439" h="3161093">
                <a:moveTo>
                  <a:pt x="0" y="0"/>
                </a:moveTo>
                <a:lnTo>
                  <a:pt x="4113439" y="0"/>
                </a:lnTo>
                <a:lnTo>
                  <a:pt x="4113439" y="2344272"/>
                </a:lnTo>
                <a:lnTo>
                  <a:pt x="2157387" y="2344272"/>
                </a:lnTo>
                <a:lnTo>
                  <a:pt x="2157387" y="3161093"/>
                </a:lnTo>
                <a:lnTo>
                  <a:pt x="0" y="3161093"/>
                </a:lnTo>
                <a:close/>
              </a:path>
            </a:pathLst>
          </a:custGeom>
        </p:spPr>
      </p:pic>
      <p:pic>
        <p:nvPicPr>
          <p:cNvPr id="5" name="Picture 4" descr="A close-up of a grey hexagon tile">
            <a:extLst>
              <a:ext uri="{FF2B5EF4-FFF2-40B4-BE49-F238E27FC236}">
                <a16:creationId xmlns:a16="http://schemas.microsoft.com/office/drawing/2014/main" id="{C30A8628-4B20-5C49-BAF2-4474B3E474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917" r="33989" b="1"/>
          <a:stretch>
            <a:fillRect/>
          </a:stretch>
        </p:blipFill>
        <p:spPr>
          <a:xfrm>
            <a:off x="4992749" y="744837"/>
            <a:ext cx="2079068" cy="2344272"/>
          </a:xfrm>
          <a:prstGeom prst="rect">
            <a:avLst/>
          </a:prstGeom>
        </p:spPr>
      </p:pic>
      <p:pic>
        <p:nvPicPr>
          <p:cNvPr id="11" name="Picture 10" descr="A close-up of a stone floor&#10;&#10;AI-generated content may be incorrect.">
            <a:extLst>
              <a:ext uri="{FF2B5EF4-FFF2-40B4-BE49-F238E27FC236}">
                <a16:creationId xmlns:a16="http://schemas.microsoft.com/office/drawing/2014/main" id="{45FEAAA1-D0B6-E248-EB74-1CDF61BFF2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359" r="11501" b="2"/>
          <a:stretch>
            <a:fillRect/>
          </a:stretch>
        </p:blipFill>
        <p:spPr>
          <a:xfrm>
            <a:off x="731816" y="4076700"/>
            <a:ext cx="2146941" cy="205121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3E14B-13FB-2F3F-E9AA-D69D51673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pPr indent="-182880">
              <a:buFont typeface="Corbel" pitchFamily="34" charset="0"/>
              <a:buChar char="•"/>
            </a:pPr>
            <a:endParaRPr lang="en-US" sz="17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7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7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7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7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7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7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7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7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r>
              <a:rPr lang="en-US" sz="1700">
                <a:solidFill>
                  <a:schemeClr val="accent1"/>
                </a:solidFill>
              </a:rPr>
              <a:t>* These start from R8,50 per paver.</a:t>
            </a:r>
          </a:p>
        </p:txBody>
      </p:sp>
    </p:spTree>
    <p:extLst>
      <p:ext uri="{BB962C8B-B14F-4D97-AF65-F5344CB8AC3E}">
        <p14:creationId xmlns:p14="http://schemas.microsoft.com/office/powerpoint/2010/main" val="1789672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A7DBAD6-80F9-497B-A278-8816A8E95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8AD113-FF7E-4ECE-A8B0-353FD81B2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3B85B5-945F-E2DB-BF07-73BF4AEEF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BRICK PAVERS</a:t>
            </a:r>
          </a:p>
        </p:txBody>
      </p:sp>
      <p:pic>
        <p:nvPicPr>
          <p:cNvPr id="11" name="Picture 10" descr="A close-up of a brick floor&#10;&#10;AI-generated content may be incorrect.">
            <a:extLst>
              <a:ext uri="{FF2B5EF4-FFF2-40B4-BE49-F238E27FC236}">
                <a16:creationId xmlns:a16="http://schemas.microsoft.com/office/drawing/2014/main" id="{FE7027B6-4801-819C-8BF1-C421DC424C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76" r="11860"/>
          <a:stretch>
            <a:fillRect/>
          </a:stretch>
        </p:blipFill>
        <p:spPr>
          <a:xfrm>
            <a:off x="3044814" y="3249974"/>
            <a:ext cx="4027002" cy="2877940"/>
          </a:xfrm>
          <a:prstGeom prst="rect">
            <a:avLst/>
          </a:prstGeom>
        </p:spPr>
      </p:pic>
      <p:pic>
        <p:nvPicPr>
          <p:cNvPr id="15" name="Picture 14" descr="A circular pattern of bricks&#10;&#10;AI-generated content may be incorrect.">
            <a:extLst>
              <a:ext uri="{FF2B5EF4-FFF2-40B4-BE49-F238E27FC236}">
                <a16:creationId xmlns:a16="http://schemas.microsoft.com/office/drawing/2014/main" id="{FABF8CAF-E925-D5A4-E20A-58D481C5AF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19" b="1612"/>
          <a:stretch>
            <a:fillRect/>
          </a:stretch>
        </p:blipFill>
        <p:spPr>
          <a:xfrm>
            <a:off x="721369" y="744836"/>
            <a:ext cx="4113439" cy="3161093"/>
          </a:xfrm>
          <a:custGeom>
            <a:avLst/>
            <a:gdLst/>
            <a:ahLst/>
            <a:cxnLst/>
            <a:rect l="l" t="t" r="r" b="b"/>
            <a:pathLst>
              <a:path w="4113439" h="3161093">
                <a:moveTo>
                  <a:pt x="0" y="0"/>
                </a:moveTo>
                <a:lnTo>
                  <a:pt x="4113439" y="0"/>
                </a:lnTo>
                <a:lnTo>
                  <a:pt x="4113439" y="2344272"/>
                </a:lnTo>
                <a:lnTo>
                  <a:pt x="2157387" y="2344272"/>
                </a:lnTo>
                <a:lnTo>
                  <a:pt x="2157387" y="3161093"/>
                </a:lnTo>
                <a:lnTo>
                  <a:pt x="0" y="3161093"/>
                </a:lnTo>
                <a:close/>
              </a:path>
            </a:pathLst>
          </a:custGeom>
        </p:spPr>
      </p:pic>
      <p:pic>
        <p:nvPicPr>
          <p:cNvPr id="5" name="Picture 4" descr="A close up of a brick wall&#10;&#10;AI-generated content may be incorrect.">
            <a:extLst>
              <a:ext uri="{FF2B5EF4-FFF2-40B4-BE49-F238E27FC236}">
                <a16:creationId xmlns:a16="http://schemas.microsoft.com/office/drawing/2014/main" id="{B9FFF355-F9AB-DD80-5F6A-79B320DD24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838" r="1906" b="-3"/>
          <a:stretch>
            <a:fillRect/>
          </a:stretch>
        </p:blipFill>
        <p:spPr>
          <a:xfrm>
            <a:off x="4992749" y="744837"/>
            <a:ext cx="2079068" cy="2344272"/>
          </a:xfrm>
          <a:prstGeom prst="rect">
            <a:avLst/>
          </a:prstGeom>
        </p:spPr>
      </p:pic>
      <p:pic>
        <p:nvPicPr>
          <p:cNvPr id="13" name="Picture 12" descr="A white brick floor with a red circle&#10;&#10;AI-generated content may be incorrect.">
            <a:extLst>
              <a:ext uri="{FF2B5EF4-FFF2-40B4-BE49-F238E27FC236}">
                <a16:creationId xmlns:a16="http://schemas.microsoft.com/office/drawing/2014/main" id="{1B03A0E6-32BB-0AE3-F6F1-0EDCAAEE75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5145" r="1" b="1"/>
          <a:stretch>
            <a:fillRect/>
          </a:stretch>
        </p:blipFill>
        <p:spPr>
          <a:xfrm>
            <a:off x="731816" y="4076700"/>
            <a:ext cx="2146941" cy="205121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B6D39-8903-BC2C-1BFA-BD67BDACE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r>
              <a:rPr lang="en-US" sz="1400">
                <a:solidFill>
                  <a:schemeClr val="accent1"/>
                </a:solidFill>
              </a:rPr>
              <a:t>* These start from R3,50 per paver.</a:t>
            </a:r>
          </a:p>
        </p:txBody>
      </p:sp>
    </p:spTree>
    <p:extLst>
      <p:ext uri="{BB962C8B-B14F-4D97-AF65-F5344CB8AC3E}">
        <p14:creationId xmlns:p14="http://schemas.microsoft.com/office/powerpoint/2010/main" val="2587854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A7DBAD6-80F9-497B-A278-8816A8E95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8AD113-FF7E-4ECE-A8B0-353FD81B2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B3E878-E65F-0A7E-5127-FD8ADBEFC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COBBLE PAVING</a:t>
            </a:r>
          </a:p>
        </p:txBody>
      </p:sp>
      <p:pic>
        <p:nvPicPr>
          <p:cNvPr id="15" name="Picture 14" descr="A close-up of a stone floor&#10;&#10;AI-generated content may be incorrect.">
            <a:extLst>
              <a:ext uri="{FF2B5EF4-FFF2-40B4-BE49-F238E27FC236}">
                <a16:creationId xmlns:a16="http://schemas.microsoft.com/office/drawing/2014/main" id="{5C757656-FE0E-C603-F8D9-9B2A1FA56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95" r="16981" b="1"/>
          <a:stretch>
            <a:fillRect/>
          </a:stretch>
        </p:blipFill>
        <p:spPr>
          <a:xfrm>
            <a:off x="3044814" y="3249974"/>
            <a:ext cx="4027002" cy="2877940"/>
          </a:xfrm>
          <a:prstGeom prst="rect">
            <a:avLst/>
          </a:prstGeom>
        </p:spPr>
      </p:pic>
      <p:pic>
        <p:nvPicPr>
          <p:cNvPr id="11" name="Picture 10" descr="A close-up of a stone walkway&#10;&#10;AI-generated content may be incorrect.">
            <a:extLst>
              <a:ext uri="{FF2B5EF4-FFF2-40B4-BE49-F238E27FC236}">
                <a16:creationId xmlns:a16="http://schemas.microsoft.com/office/drawing/2014/main" id="{41A1FF79-4C7C-A4A2-6FBB-CBA65FD12E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36" r="30795" b="1"/>
          <a:stretch>
            <a:fillRect/>
          </a:stretch>
        </p:blipFill>
        <p:spPr>
          <a:xfrm>
            <a:off x="721369" y="744836"/>
            <a:ext cx="4113439" cy="3161093"/>
          </a:xfrm>
          <a:custGeom>
            <a:avLst/>
            <a:gdLst/>
            <a:ahLst/>
            <a:cxnLst/>
            <a:rect l="l" t="t" r="r" b="b"/>
            <a:pathLst>
              <a:path w="4113439" h="3161093">
                <a:moveTo>
                  <a:pt x="0" y="0"/>
                </a:moveTo>
                <a:lnTo>
                  <a:pt x="4113439" y="0"/>
                </a:lnTo>
                <a:lnTo>
                  <a:pt x="4113439" y="2344272"/>
                </a:lnTo>
                <a:lnTo>
                  <a:pt x="2157387" y="2344272"/>
                </a:lnTo>
                <a:lnTo>
                  <a:pt x="2157387" y="3161093"/>
                </a:lnTo>
                <a:lnTo>
                  <a:pt x="0" y="3161093"/>
                </a:lnTo>
                <a:close/>
              </a:path>
            </a:pathLst>
          </a:custGeom>
        </p:spPr>
      </p:pic>
      <p:pic>
        <p:nvPicPr>
          <p:cNvPr id="9" name="Picture 8" descr="A close-up of a stone floor&#10;&#10;AI-generated content may be incorrect.">
            <a:extLst>
              <a:ext uri="{FF2B5EF4-FFF2-40B4-BE49-F238E27FC236}">
                <a16:creationId xmlns:a16="http://schemas.microsoft.com/office/drawing/2014/main" id="{03A0B47A-B07A-8532-AD79-08F8A7A9F1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90" r="22267" b="2"/>
          <a:stretch>
            <a:fillRect/>
          </a:stretch>
        </p:blipFill>
        <p:spPr>
          <a:xfrm>
            <a:off x="4992749" y="744837"/>
            <a:ext cx="2079068" cy="2344272"/>
          </a:xfrm>
          <a:prstGeom prst="rect">
            <a:avLst/>
          </a:prstGeom>
        </p:spPr>
      </p:pic>
      <p:pic>
        <p:nvPicPr>
          <p:cNvPr id="17" name="Picture 16" descr="A close-up of a brick walkway&#10;&#10;AI-generated content may be incorrect.">
            <a:extLst>
              <a:ext uri="{FF2B5EF4-FFF2-40B4-BE49-F238E27FC236}">
                <a16:creationId xmlns:a16="http://schemas.microsoft.com/office/drawing/2014/main" id="{689B69C0-45D9-6B78-5EF7-30EEFAB4F9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59" r="28307" b="1"/>
          <a:stretch>
            <a:fillRect/>
          </a:stretch>
        </p:blipFill>
        <p:spPr>
          <a:xfrm>
            <a:off x="731816" y="4076700"/>
            <a:ext cx="2146941" cy="205121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5AFC7-88F2-A2FB-A263-BC3B5919A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r>
              <a:rPr lang="en-US" sz="1400">
                <a:solidFill>
                  <a:schemeClr val="accent1"/>
                </a:solidFill>
              </a:rPr>
              <a:t>*These start from R250,00 a square meter.</a:t>
            </a:r>
          </a:p>
        </p:txBody>
      </p:sp>
    </p:spTree>
    <p:extLst>
      <p:ext uri="{BB962C8B-B14F-4D97-AF65-F5344CB8AC3E}">
        <p14:creationId xmlns:p14="http://schemas.microsoft.com/office/powerpoint/2010/main" val="2367260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A7DBAD6-80F9-497B-A278-8816A8E95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8AD113-FF7E-4ECE-A8B0-353FD81B2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49204-2EA4-14E8-A205-E20ACFE65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FLAG STONES</a:t>
            </a:r>
          </a:p>
        </p:txBody>
      </p:sp>
      <p:pic>
        <p:nvPicPr>
          <p:cNvPr id="9" name="Picture 8" descr="A stone path with gravel and plants&#10;&#10;AI-generated content may be incorrect.">
            <a:extLst>
              <a:ext uri="{FF2B5EF4-FFF2-40B4-BE49-F238E27FC236}">
                <a16:creationId xmlns:a16="http://schemas.microsoft.com/office/drawing/2014/main" id="{DF2729E6-0BF6-5C99-35BD-F2353D32E5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78" r="3" b="3"/>
          <a:stretch>
            <a:fillRect/>
          </a:stretch>
        </p:blipFill>
        <p:spPr>
          <a:xfrm>
            <a:off x="3044814" y="3249974"/>
            <a:ext cx="4027002" cy="2877940"/>
          </a:xfrm>
          <a:prstGeom prst="rect">
            <a:avLst/>
          </a:prstGeom>
        </p:spPr>
      </p:pic>
      <p:pic>
        <p:nvPicPr>
          <p:cNvPr id="13" name="Picture 12" descr="A close-up of a grey brick floor&#10;&#10;AI-generated content may be incorrect.">
            <a:extLst>
              <a:ext uri="{FF2B5EF4-FFF2-40B4-BE49-F238E27FC236}">
                <a16:creationId xmlns:a16="http://schemas.microsoft.com/office/drawing/2014/main" id="{446DC06E-CD96-FB32-0502-28D54F2127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468" r="17467" b="-1"/>
          <a:stretch>
            <a:fillRect/>
          </a:stretch>
        </p:blipFill>
        <p:spPr>
          <a:xfrm>
            <a:off x="721369" y="744836"/>
            <a:ext cx="4113439" cy="3161093"/>
          </a:xfrm>
          <a:custGeom>
            <a:avLst/>
            <a:gdLst/>
            <a:ahLst/>
            <a:cxnLst/>
            <a:rect l="l" t="t" r="r" b="b"/>
            <a:pathLst>
              <a:path w="4113439" h="3161093">
                <a:moveTo>
                  <a:pt x="0" y="0"/>
                </a:moveTo>
                <a:lnTo>
                  <a:pt x="4113439" y="0"/>
                </a:lnTo>
                <a:lnTo>
                  <a:pt x="4113439" y="2344272"/>
                </a:lnTo>
                <a:lnTo>
                  <a:pt x="2157387" y="2344272"/>
                </a:lnTo>
                <a:lnTo>
                  <a:pt x="2157387" y="3161093"/>
                </a:lnTo>
                <a:lnTo>
                  <a:pt x="0" y="3161093"/>
                </a:lnTo>
                <a:close/>
              </a:path>
            </a:pathLst>
          </a:custGeom>
        </p:spPr>
      </p:pic>
      <p:pic>
        <p:nvPicPr>
          <p:cNvPr id="11" name="Picture 10" descr="A circular stone table with a cross in the middle&#10;&#10;AI-generated content may be incorrect.">
            <a:extLst>
              <a:ext uri="{FF2B5EF4-FFF2-40B4-BE49-F238E27FC236}">
                <a16:creationId xmlns:a16="http://schemas.microsoft.com/office/drawing/2014/main" id="{28328815-AF33-1444-5CCC-862D24A06C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785" r="20713" b="-2"/>
          <a:stretch>
            <a:fillRect/>
          </a:stretch>
        </p:blipFill>
        <p:spPr>
          <a:xfrm>
            <a:off x="4992749" y="744837"/>
            <a:ext cx="2079068" cy="2344272"/>
          </a:xfrm>
          <a:prstGeom prst="rect">
            <a:avLst/>
          </a:prstGeom>
        </p:spPr>
      </p:pic>
      <p:pic>
        <p:nvPicPr>
          <p:cNvPr id="7" name="Picture 6" descr="A close-up of a grey tile floor&#10;&#10;AI-generated content may be incorrect.">
            <a:extLst>
              <a:ext uri="{FF2B5EF4-FFF2-40B4-BE49-F238E27FC236}">
                <a16:creationId xmlns:a16="http://schemas.microsoft.com/office/drawing/2014/main" id="{1E3B17C7-D94A-8C16-35C1-7138A706B9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877" r="22081" b="2"/>
          <a:stretch>
            <a:fillRect/>
          </a:stretch>
        </p:blipFill>
        <p:spPr>
          <a:xfrm>
            <a:off x="731816" y="4076700"/>
            <a:ext cx="2146941" cy="205121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2808A-E853-9FF2-D1DD-B562D012A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r>
              <a:rPr lang="en-US" sz="1400">
                <a:solidFill>
                  <a:schemeClr val="accent1"/>
                </a:solidFill>
              </a:rPr>
              <a:t>*These start from R300,00 a square meter.</a:t>
            </a:r>
          </a:p>
        </p:txBody>
      </p:sp>
    </p:spTree>
    <p:extLst>
      <p:ext uri="{BB962C8B-B14F-4D97-AF65-F5344CB8AC3E}">
        <p14:creationId xmlns:p14="http://schemas.microsoft.com/office/powerpoint/2010/main" val="3479873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A7DBAD6-80F9-497B-A278-8816A8E95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8AD113-FF7E-4ECE-A8B0-353FD81B2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8DDA4D-19CE-2CA6-7004-972FCF6CF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CONCRETE TILES</a:t>
            </a:r>
          </a:p>
        </p:txBody>
      </p:sp>
      <p:pic>
        <p:nvPicPr>
          <p:cNvPr id="13" name="Picture 12" descr="A close-up of a stone floor&#10;&#10;AI-generated content may be incorrect.">
            <a:extLst>
              <a:ext uri="{FF2B5EF4-FFF2-40B4-BE49-F238E27FC236}">
                <a16:creationId xmlns:a16="http://schemas.microsoft.com/office/drawing/2014/main" id="{FA8B0164-72D2-A62A-1F44-B8F860F97E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788" r="14076" b="-1"/>
          <a:stretch>
            <a:fillRect/>
          </a:stretch>
        </p:blipFill>
        <p:spPr>
          <a:xfrm>
            <a:off x="3044814" y="3249974"/>
            <a:ext cx="4027002" cy="2877940"/>
          </a:xfrm>
          <a:prstGeom prst="rect">
            <a:avLst/>
          </a:prstGeom>
        </p:spPr>
      </p:pic>
      <p:pic>
        <p:nvPicPr>
          <p:cNvPr id="7" name="Picture 6" descr="A close-up of a tile floor&#10;&#10;AI-generated content may be incorrect.">
            <a:extLst>
              <a:ext uri="{FF2B5EF4-FFF2-40B4-BE49-F238E27FC236}">
                <a16:creationId xmlns:a16="http://schemas.microsoft.com/office/drawing/2014/main" id="{D9B81CD0-4D17-415C-7C11-8B67E83C98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98" r="17200" b="2"/>
          <a:stretch>
            <a:fillRect/>
          </a:stretch>
        </p:blipFill>
        <p:spPr>
          <a:xfrm>
            <a:off x="721369" y="744836"/>
            <a:ext cx="4113439" cy="3161093"/>
          </a:xfrm>
          <a:custGeom>
            <a:avLst/>
            <a:gdLst/>
            <a:ahLst/>
            <a:cxnLst/>
            <a:rect l="l" t="t" r="r" b="b"/>
            <a:pathLst>
              <a:path w="4113439" h="3161093">
                <a:moveTo>
                  <a:pt x="0" y="0"/>
                </a:moveTo>
                <a:lnTo>
                  <a:pt x="4113439" y="0"/>
                </a:lnTo>
                <a:lnTo>
                  <a:pt x="4113439" y="2344272"/>
                </a:lnTo>
                <a:lnTo>
                  <a:pt x="2157387" y="2344272"/>
                </a:lnTo>
                <a:lnTo>
                  <a:pt x="2157387" y="3161093"/>
                </a:lnTo>
                <a:lnTo>
                  <a:pt x="0" y="3161093"/>
                </a:lnTo>
                <a:close/>
              </a:path>
            </a:pathLst>
          </a:custGeom>
        </p:spPr>
      </p:pic>
      <p:pic>
        <p:nvPicPr>
          <p:cNvPr id="11" name="Picture 10" descr="A close up of a tile floor&#10;&#10;AI-generated content may be incorrect.">
            <a:extLst>
              <a:ext uri="{FF2B5EF4-FFF2-40B4-BE49-F238E27FC236}">
                <a16:creationId xmlns:a16="http://schemas.microsoft.com/office/drawing/2014/main" id="{CD68D070-0DA0-21C7-3B92-9E7F15A880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651" r="2" b="22496"/>
          <a:stretch>
            <a:fillRect/>
          </a:stretch>
        </p:blipFill>
        <p:spPr>
          <a:xfrm>
            <a:off x="4992749" y="744837"/>
            <a:ext cx="2079068" cy="2344272"/>
          </a:xfrm>
          <a:prstGeom prst="rect">
            <a:avLst/>
          </a:prstGeom>
        </p:spPr>
      </p:pic>
      <p:pic>
        <p:nvPicPr>
          <p:cNvPr id="9" name="Picture 8" descr="A close-up of a tile floor&#10;&#10;AI-generated content may be incorrect.">
            <a:extLst>
              <a:ext uri="{FF2B5EF4-FFF2-40B4-BE49-F238E27FC236}">
                <a16:creationId xmlns:a16="http://schemas.microsoft.com/office/drawing/2014/main" id="{CAFD5023-6C28-BA07-4BEC-596A77D29EB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400" r="28267" b="2"/>
          <a:stretch>
            <a:fillRect/>
          </a:stretch>
        </p:blipFill>
        <p:spPr>
          <a:xfrm>
            <a:off x="731816" y="4076700"/>
            <a:ext cx="2146941" cy="205121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777E6-A0C1-FBC8-56E1-5353E1D12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r>
              <a:rPr lang="en-US" sz="1400">
                <a:solidFill>
                  <a:schemeClr val="accent1"/>
                </a:solidFill>
              </a:rPr>
              <a:t>* These start from R350,00 a square meter, </a:t>
            </a:r>
          </a:p>
        </p:txBody>
      </p:sp>
    </p:spTree>
    <p:extLst>
      <p:ext uri="{BB962C8B-B14F-4D97-AF65-F5344CB8AC3E}">
        <p14:creationId xmlns:p14="http://schemas.microsoft.com/office/powerpoint/2010/main" val="24641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AB221CDE-5758-4F8A-8E5E-597B1D5AC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9F6ED3D-BEC9-433A-B753-609FD3F3B1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D8B7B6-E91D-0A03-24BC-113D6088C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704" y="609600"/>
            <a:ext cx="5364444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NATURAL STONE </a:t>
            </a:r>
          </a:p>
        </p:txBody>
      </p:sp>
      <p:pic>
        <p:nvPicPr>
          <p:cNvPr id="17" name="Picture 16" descr="A close-up of a stone wall&#10;&#10;AI-generated content may be incorrect.">
            <a:extLst>
              <a:ext uri="{FF2B5EF4-FFF2-40B4-BE49-F238E27FC236}">
                <a16:creationId xmlns:a16="http://schemas.microsoft.com/office/drawing/2014/main" id="{78A19941-F917-D584-E048-B9081596EB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603" r="22612" b="3"/>
          <a:stretch>
            <a:fillRect/>
          </a:stretch>
        </p:blipFill>
        <p:spPr>
          <a:xfrm>
            <a:off x="702347" y="731519"/>
            <a:ext cx="2372029" cy="3252317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6BB3B575-5DE0-4222-BFD0-3EF1834220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35243" y="731519"/>
            <a:ext cx="2395567" cy="21423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close-up of a stone walkway&#10;&#10;AI-generated content may be incorrect.">
            <a:extLst>
              <a:ext uri="{FF2B5EF4-FFF2-40B4-BE49-F238E27FC236}">
                <a16:creationId xmlns:a16="http://schemas.microsoft.com/office/drawing/2014/main" id="{7278C911-A422-0F88-A193-57EC0974B8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97" r="9863" b="-2"/>
          <a:stretch>
            <a:fillRect/>
          </a:stretch>
        </p:blipFill>
        <p:spPr>
          <a:xfrm>
            <a:off x="3235243" y="731519"/>
            <a:ext cx="2395567" cy="214231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C415A303-9056-4604-A81B-16C7F329A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2347" y="4126208"/>
            <a:ext cx="2372029" cy="20378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stone floor with a crack in the ground&#10;&#10;AI-generated content may be incorrect.">
            <a:extLst>
              <a:ext uri="{FF2B5EF4-FFF2-40B4-BE49-F238E27FC236}">
                <a16:creationId xmlns:a16="http://schemas.microsoft.com/office/drawing/2014/main" id="{0EBBFEB5-1243-9640-5E84-6849DFB7A9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595" r="38490" b="1"/>
          <a:stretch>
            <a:fillRect/>
          </a:stretch>
        </p:blipFill>
        <p:spPr>
          <a:xfrm>
            <a:off x="702347" y="4126208"/>
            <a:ext cx="2372029" cy="2037867"/>
          </a:xfrm>
          <a:prstGeom prst="rect">
            <a:avLst/>
          </a:prstGeom>
        </p:spPr>
      </p:pic>
      <p:pic>
        <p:nvPicPr>
          <p:cNvPr id="13" name="Picture 12" descr="A close up of a tile floor&#10;&#10;AI-generated content may be incorrect.">
            <a:extLst>
              <a:ext uri="{FF2B5EF4-FFF2-40B4-BE49-F238E27FC236}">
                <a16:creationId xmlns:a16="http://schemas.microsoft.com/office/drawing/2014/main" id="{90132FC9-9F83-1A6B-A47D-CBC2585F5EB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680" r="20831" b="-1"/>
          <a:stretch>
            <a:fillRect/>
          </a:stretch>
        </p:blipFill>
        <p:spPr>
          <a:xfrm>
            <a:off x="3235244" y="3013787"/>
            <a:ext cx="2395566" cy="3150287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FE01AA-AA63-AA5F-4A65-4B65614C9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06703" y="2057400"/>
            <a:ext cx="5364444" cy="4038600"/>
          </a:xfrm>
        </p:spPr>
        <p:txBody>
          <a:bodyPr vert="horz" lIns="91440" tIns="45720" rIns="91440" bIns="45720" rtlCol="0">
            <a:normAutofit/>
          </a:bodyPr>
          <a:lstStyle/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indent="-182880">
              <a:buFont typeface="Corbel" pitchFamily="34" charset="0"/>
              <a:buChar char="•"/>
            </a:pPr>
            <a:r>
              <a:rPr lang="en-US" sz="1400">
                <a:solidFill>
                  <a:schemeClr val="accent1"/>
                </a:solidFill>
              </a:rPr>
              <a:t>*These start from R400,00 a square meter.</a:t>
            </a:r>
          </a:p>
        </p:txBody>
      </p:sp>
    </p:spTree>
    <p:extLst>
      <p:ext uri="{BB962C8B-B14F-4D97-AF65-F5344CB8AC3E}">
        <p14:creationId xmlns:p14="http://schemas.microsoft.com/office/powerpoint/2010/main" val="2524845468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523</TotalTime>
  <Words>213</Words>
  <Application>Microsoft Office PowerPoint</Application>
  <PresentationFormat>Widescreen</PresentationFormat>
  <Paragraphs>75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Corbel</vt:lpstr>
      <vt:lpstr>Basis</vt:lpstr>
      <vt:lpstr>🌿 PAVING OPTIONS</vt:lpstr>
      <vt:lpstr>HEXAGONAL PAVERS</vt:lpstr>
      <vt:lpstr>BRICK PAVERS</vt:lpstr>
      <vt:lpstr>COBBLE PAVING</vt:lpstr>
      <vt:lpstr>FLAG STONES</vt:lpstr>
      <vt:lpstr>CONCRETE TILES</vt:lpstr>
      <vt:lpstr>NATURAL STONE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15808</dc:creator>
  <cp:lastModifiedBy>15808</cp:lastModifiedBy>
  <cp:revision>6</cp:revision>
  <dcterms:created xsi:type="dcterms:W3CDTF">2025-12-12T21:15:02Z</dcterms:created>
  <dcterms:modified xsi:type="dcterms:W3CDTF">2026-02-06T12:09:42Z</dcterms:modified>
</cp:coreProperties>
</file>